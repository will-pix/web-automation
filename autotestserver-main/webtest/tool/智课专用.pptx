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8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napToObjects="1">
      <p:cViewPr varScale="1">
        <p:scale>
          <a:sx n="132" d="100"/>
          <a:sy n="132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27342" y="1640910"/>
            <a:ext cx="9958192" cy="169068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kumimoji="1" lang="en-US" altLang="zh-CN" dirty="0" err="1"/>
              <a:t>maintitle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127321" y="3644900"/>
            <a:ext cx="9958192" cy="95215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Source Han Sans CN Medium" panose="020B0500000000000000" pitchFamily="34" charset="-128"/>
                <a:ea typeface="Source Han Sans CN Medium" panose="020B0500000000000000" pitchFamily="34" charset="-128"/>
              </a:defRPr>
            </a:lvl1pPr>
          </a:lstStyle>
          <a:p>
            <a:pPr lvl="0"/>
            <a:r>
              <a:rPr kumimoji="1" lang="en-US" altLang="zh-CN" dirty="0"/>
              <a:t>module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1127125" y="5417507"/>
            <a:ext cx="9958388" cy="36951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Regular" panose="020B0500000000000000" pitchFamily="34" charset="-128"/>
                <a:ea typeface="Source Han Sans CN Regular" panose="020B0500000000000000" pitchFamily="34" charset="-128"/>
              </a:defRPr>
            </a:lvl1pPr>
          </a:lstStyle>
          <a:p>
            <a:pPr lvl="0"/>
            <a:r>
              <a:rPr kumimoji="1" lang="en-US" altLang="zh-CN" dirty="0"/>
              <a:t>publisher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有序列表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639743" y="225730"/>
            <a:ext cx="4567237" cy="325415"/>
          </a:xfrm>
          <a:prstGeom prst="rect">
            <a:avLst/>
          </a:prstGeom>
        </p:spPr>
        <p:txBody>
          <a:bodyPr/>
          <a:lstStyle>
            <a:lvl1pPr algn="l">
              <a:defRPr sz="1800" b="1" i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en-US" altLang="zh-CN" dirty="0" err="1"/>
              <a:t>moduletitle</a:t>
            </a:r>
            <a:endParaRPr kumimoji="1"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2" hasCustomPrompt="1"/>
          </p:nvPr>
        </p:nvSpPr>
        <p:spPr>
          <a:xfrm>
            <a:off x="639763" y="747252"/>
            <a:ext cx="10909300" cy="5591636"/>
          </a:xfrm>
          <a:prstGeom prst="rect">
            <a:avLst/>
          </a:prstGeom>
        </p:spPr>
        <p:txBody>
          <a:bodyPr/>
          <a:lstStyle>
            <a:lvl1pPr marL="457200" indent="-457200" algn="l">
              <a:buFont typeface="Arial" panose="020B0704020202020204" pitchFamily="34" charset="0"/>
              <a:buChar char="•"/>
              <a:defRPr b="0" i="0">
                <a:latin typeface="Source Han Sans CN Regular" panose="020B0500000000000000" pitchFamily="34" charset="-128"/>
                <a:ea typeface="Source Han Sans CN Regular" panose="020B0500000000000000" pitchFamily="34" charset="-128"/>
              </a:defRPr>
            </a:lvl1pPr>
          </a:lstStyle>
          <a:p>
            <a:pPr lvl="0"/>
            <a:r>
              <a:rPr lang="en-GB" altLang="zh-CN" b="0" i="0" dirty="0" err="1">
                <a:solidFill>
                  <a:srgbClr val="040C28"/>
                </a:solidFill>
                <a:effectLst/>
                <a:latin typeface="Arial" panose="020B0704020202020204" pitchFamily="34" charset="0"/>
              </a:rPr>
              <a:t>orderedlist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页眉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639743" y="225730"/>
            <a:ext cx="4567237" cy="325415"/>
          </a:xfrm>
          <a:prstGeom prst="rect">
            <a:avLst/>
          </a:prstGeom>
        </p:spPr>
        <p:txBody>
          <a:bodyPr/>
          <a:lstStyle>
            <a:lvl1pPr algn="l">
              <a:defRPr sz="1800" b="1" i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en-US" altLang="zh-CN" dirty="0" err="1"/>
              <a:t>moduletitle</a:t>
            </a:r>
            <a:endParaRPr kumimoji="1" lang="zh-CN" altLang="en-US" dirty="0"/>
          </a:p>
        </p:txBody>
      </p:sp>
      <p:sp>
        <p:nvSpPr>
          <p:cNvPr id="6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225730"/>
            <a:ext cx="5461677" cy="325415"/>
          </a:xfrm>
          <a:prstGeom prst="rect">
            <a:avLst/>
          </a:prstGeom>
        </p:spPr>
        <p:txBody>
          <a:bodyPr/>
          <a:lstStyle>
            <a:lvl1pPr algn="r"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en-US" altLang="zh-CN" dirty="0"/>
              <a:t>topic</a:t>
            </a:r>
            <a:endParaRPr kumimoji="1"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2" hasCustomPrompt="1"/>
          </p:nvPr>
        </p:nvSpPr>
        <p:spPr>
          <a:xfrm>
            <a:off x="639763" y="767906"/>
            <a:ext cx="10909300" cy="557098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eaLnBrk="1" fontAlgn="auto" latinLnBrk="0" hangingPunct="1">
              <a:lnSpc>
                <a:spcPct val="130000"/>
              </a:lnSpc>
              <a:defRPr b="0" i="0">
                <a:latin typeface="Source Han Sans CN Regular" panose="020B0500000000000000" pitchFamily="34" charset="-128"/>
                <a:ea typeface="Source Han Sans CN Regular" panose="020B0500000000000000" pitchFamily="34" charset="-128"/>
              </a:defRPr>
            </a:lvl1pPr>
          </a:lstStyle>
          <a:p>
            <a:pPr lvl="0"/>
            <a:r>
              <a:rPr kumimoji="1" lang="en-US" altLang="zh-CN" dirty="0"/>
              <a:t>content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639743" y="225730"/>
            <a:ext cx="4567237" cy="325415"/>
          </a:xfrm>
          <a:prstGeom prst="rect">
            <a:avLst/>
          </a:prstGeom>
        </p:spPr>
        <p:txBody>
          <a:bodyPr/>
          <a:lstStyle>
            <a:lvl1pPr algn="l">
              <a:defRPr sz="1800" b="1" i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en-US" altLang="zh-CN" dirty="0" err="1"/>
              <a:t>moduletitle</a:t>
            </a:r>
            <a:endParaRPr kumimoji="1"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2" hasCustomPrompt="1"/>
          </p:nvPr>
        </p:nvSpPr>
        <p:spPr>
          <a:xfrm>
            <a:off x="639763" y="767906"/>
            <a:ext cx="10909300" cy="557098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defRPr b="0" i="0">
                <a:latin typeface="Source Han Sans CN Regular" panose="020B0500000000000000" pitchFamily="34" charset="-128"/>
                <a:ea typeface="Source Han Sans CN Regular" panose="020B0500000000000000" pitchFamily="34" charset="-128"/>
              </a:defRPr>
            </a:lvl1pPr>
          </a:lstStyle>
          <a:p>
            <a:pPr lvl="0"/>
            <a:r>
              <a:rPr kumimoji="1" lang="en-US" altLang="zh-CN" dirty="0"/>
              <a:t>content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小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639743" y="225730"/>
            <a:ext cx="4567237" cy="325415"/>
          </a:xfrm>
          <a:prstGeom prst="rect">
            <a:avLst/>
          </a:prstGeom>
        </p:spPr>
        <p:txBody>
          <a:bodyPr/>
          <a:lstStyle>
            <a:lvl1pPr algn="l">
              <a:defRPr sz="1800" b="1" i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en-US" altLang="zh-CN" dirty="0" err="1"/>
              <a:t>moduletitle</a:t>
            </a:r>
            <a:endParaRPr kumimoji="1" lang="zh-CN" altLang="en-US" dirty="0"/>
          </a:p>
        </p:txBody>
      </p:sp>
      <p:sp>
        <p:nvSpPr>
          <p:cNvPr id="4" name="内容占位符 7"/>
          <p:cNvSpPr>
            <a:spLocks noGrp="1"/>
          </p:cNvSpPr>
          <p:nvPr>
            <p:ph sz="quarter" idx="12" hasCustomPrompt="1"/>
          </p:nvPr>
        </p:nvSpPr>
        <p:spPr>
          <a:xfrm>
            <a:off x="639763" y="1396180"/>
            <a:ext cx="10909300" cy="4942707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defRPr b="0" i="0">
                <a:latin typeface="Source Han Sans CN Regular" panose="020B0500000000000000" pitchFamily="34" charset="-128"/>
                <a:ea typeface="Source Han Sans CN Regular" panose="020B0500000000000000" pitchFamily="34" charset="-128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kumimoji="1" lang="en-US" altLang="zh-CN" dirty="0"/>
              <a:t>content</a:t>
            </a:r>
            <a:endParaRPr kumimoji="1" lang="zh-CN" altLang="en-US" dirty="0"/>
          </a:p>
        </p:txBody>
      </p:sp>
      <p:sp>
        <p:nvSpPr>
          <p:cNvPr id="2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639763" y="742334"/>
            <a:ext cx="10909300" cy="585021"/>
          </a:xfrm>
          <a:prstGeom prst="rect">
            <a:avLst/>
          </a:prstGeom>
        </p:spPr>
        <p:txBody>
          <a:bodyPr anchor="ctr"/>
          <a:lstStyle>
            <a:lvl1pPr algn="l">
              <a:defRPr b="1" i="0">
                <a:latin typeface="Source Han Sans CN Regular" panose="020B0500000000000000" pitchFamily="34" charset="-128"/>
                <a:ea typeface="Source Han Sans CN Regular" panose="020B0500000000000000" pitchFamily="34" charset="-128"/>
              </a:defRPr>
            </a:lvl1pPr>
          </a:lstStyle>
          <a:p>
            <a:pPr lvl="0"/>
            <a:r>
              <a:rPr kumimoji="1" lang="en-US" altLang="zh-CN" dirty="0"/>
              <a:t>subtitle</a:t>
            </a:r>
            <a:endParaRPr kumimoji="1" lang="zh-CN" altLang="en-US" dirty="0"/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225730"/>
            <a:ext cx="5461677" cy="325415"/>
          </a:xfrm>
          <a:prstGeom prst="rect">
            <a:avLst/>
          </a:prstGeom>
        </p:spPr>
        <p:txBody>
          <a:bodyPr/>
          <a:lstStyle>
            <a:lvl1pPr algn="r">
              <a:defRPr sz="1800" b="0" i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Normal" panose="020B0500000000000000" pitchFamily="34" charset="-128"/>
                <a:ea typeface="Source Han Sans CN Normal" panose="020B05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en-US" altLang="zh-CN" dirty="0"/>
              <a:t>topic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微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639743" y="225730"/>
            <a:ext cx="4567237" cy="325415"/>
          </a:xfrm>
          <a:prstGeom prst="rect">
            <a:avLst/>
          </a:prstGeom>
        </p:spPr>
        <p:txBody>
          <a:bodyPr/>
          <a:lstStyle>
            <a:lvl1pPr algn="l">
              <a:defRPr sz="1800" b="1" i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en-US" altLang="zh-CN" dirty="0" err="1"/>
              <a:t>moduletitle</a:t>
            </a:r>
            <a:endParaRPr kumimoji="1" lang="zh-CN" altLang="en-US" dirty="0"/>
          </a:p>
        </p:txBody>
      </p:sp>
      <p:sp>
        <p:nvSpPr>
          <p:cNvPr id="2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2352611" y="5552228"/>
            <a:ext cx="7483603" cy="432014"/>
          </a:xfrm>
          <a:prstGeom prst="rect">
            <a:avLst/>
          </a:prstGeom>
          <a:solidFill>
            <a:srgbClr val="498DED"/>
          </a:solidFill>
          <a:ln>
            <a:noFill/>
          </a:ln>
        </p:spPr>
        <p:txBody>
          <a:bodyPr anchor="ctr"/>
          <a:lstStyle>
            <a:lvl1pPr algn="ctr">
              <a:defRPr sz="1800" b="0" i="0">
                <a:solidFill>
                  <a:schemeClr val="bg1"/>
                </a:solidFill>
                <a:latin typeface="Source Han Sans CN Regular" panose="020B0500000000000000" pitchFamily="34" charset="-128"/>
                <a:ea typeface="Source Han Sans CN Regular" panose="020B0500000000000000" pitchFamily="34" charset="-128"/>
              </a:defRPr>
            </a:lvl1pPr>
          </a:lstStyle>
          <a:p>
            <a:pPr lvl="0"/>
            <a:r>
              <a:rPr kumimoji="1" lang="en-US" altLang="zh-CN" dirty="0" err="1"/>
              <a:t>videoURL</a:t>
            </a:r>
            <a:endParaRPr kumimoji="1" lang="zh-CN" altLang="en-US" dirty="0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4" hasCustomPrompt="1"/>
          </p:nvPr>
        </p:nvSpPr>
        <p:spPr>
          <a:xfrm>
            <a:off x="2352611" y="873758"/>
            <a:ext cx="7483603" cy="4471791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 err="1"/>
              <a:t>videocover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题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639743" y="225730"/>
            <a:ext cx="4567237" cy="325415"/>
          </a:xfrm>
          <a:prstGeom prst="rect">
            <a:avLst/>
          </a:prstGeom>
        </p:spPr>
        <p:txBody>
          <a:bodyPr/>
          <a:lstStyle>
            <a:lvl1pPr algn="l">
              <a:defRPr sz="1800" b="1" i="0">
                <a:solidFill>
                  <a:schemeClr val="tx1">
                    <a:lumMod val="50000"/>
                    <a:lumOff val="50000"/>
                  </a:schemeClr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en-US" altLang="zh-CN" dirty="0" err="1"/>
              <a:t>moduletitle</a:t>
            </a:r>
            <a:endParaRPr kumimoji="1" lang="zh-CN" altLang="en-US" dirty="0"/>
          </a:p>
        </p:txBody>
      </p:sp>
      <p:sp>
        <p:nvSpPr>
          <p:cNvPr id="2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639743" y="5552228"/>
            <a:ext cx="10909300" cy="4320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>
            <a:lvl1pPr algn="ctr">
              <a:defRPr sz="1800" b="0" i="0">
                <a:solidFill>
                  <a:srgbClr val="498DED"/>
                </a:solidFill>
                <a:latin typeface="Source Han Sans CN Regular" panose="020B0500000000000000" pitchFamily="34" charset="-128"/>
                <a:ea typeface="Source Han Sans CN Regular" panose="020B0500000000000000" pitchFamily="34" charset="-128"/>
              </a:defRPr>
            </a:lvl1pPr>
          </a:lstStyle>
          <a:p>
            <a:pPr lvl="0"/>
            <a:r>
              <a:rPr kumimoji="1" lang="en-US" altLang="zh-CN" dirty="0" err="1"/>
              <a:t>questURL</a:t>
            </a:r>
            <a:endParaRPr kumimoji="1" lang="zh-CN" altLang="en-US" dirty="0"/>
          </a:p>
        </p:txBody>
      </p:sp>
      <p:sp>
        <p:nvSpPr>
          <p:cNvPr id="5" name="图片占位符 5"/>
          <p:cNvSpPr>
            <a:spLocks noGrp="1"/>
          </p:cNvSpPr>
          <p:nvPr>
            <p:ph type="pic" sz="quarter" idx="14" hasCustomPrompt="1"/>
          </p:nvPr>
        </p:nvSpPr>
        <p:spPr>
          <a:xfrm>
            <a:off x="639743" y="873758"/>
            <a:ext cx="10909299" cy="4471791"/>
          </a:xfrm>
          <a:prstGeom prst="rect">
            <a:avLst/>
          </a:prstGeom>
        </p:spPr>
        <p:txBody>
          <a:bodyPr/>
          <a:lstStyle/>
          <a:p>
            <a:r>
              <a:rPr kumimoji="1" lang="en-US" altLang="zh-CN" dirty="0" err="1"/>
              <a:t>questpic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Source Han Sans CN Heavy" panose="020B0500000000000000" pitchFamily="34" charset="-128"/>
          <a:ea typeface="Source Han Sans CN Heavy" panose="020B0500000000000000" pitchFamily="34" charset="-128"/>
          <a:cs typeface="+mj-cs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比多少：大节下的知识点介绍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1.1 比多少-1-准备课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人教版-一年级上册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教学目标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t>1. 学生能够通过观察实物或图片，初步理解“同样多”“多”“少”的概念。</a:t>
            </a:r>
          </a:p>
          <a:p>
            <a:r>
              <a:t>2. 学会用一一对应的方法比较物体的多少，能准确说出谁比谁多，谁比谁少。</a:t>
            </a:r>
          </a:p>
          <a:p>
            <a:r>
              <a:t>3. 培养学生的观察能力、动手操作能力和语言表达能力，激发学生对数学的兴趣。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WPS 表格</Application>
  <PresentationFormat>宽屏</PresentationFormat>
  <Paragraphs>12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2" baseType="lpstr">
      <vt:lpstr>Arial</vt:lpstr>
      <vt:lpstr>宋体</vt:lpstr>
      <vt:lpstr>Wingdings</vt:lpstr>
      <vt:lpstr>Source Han Sans CN Heavy</vt:lpstr>
      <vt:lpstr>冬青黑体简体中文</vt:lpstr>
      <vt:lpstr>Source Han Sans CN Medium</vt:lpstr>
      <vt:lpstr>Source Han Sans CN Regular</vt:lpstr>
      <vt:lpstr>Source Han Sans CN Bold</vt:lpstr>
      <vt:lpstr>Source Han Sans CN Normal</vt:lpstr>
      <vt:lpstr>DejaVu Math TeX Gyre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等线</vt:lpstr>
      <vt:lpstr>汉仪中等线KW</vt:lpstr>
      <vt:lpstr>Office 主题 2013 - 2022</vt:lpstr>
      <vt:lpstr>1.1 比多少：大节下的知识点介绍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张庆国</cp:lastModifiedBy>
  <cp:revision>10</cp:revision>
  <dcterms:created xsi:type="dcterms:W3CDTF">2025-11-17T09:50:31Z</dcterms:created>
  <dcterms:modified xsi:type="dcterms:W3CDTF">2025-11-17T09:50:31Z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8A65C13DA1F24092DF2965670608D406_42</vt:lpwstr>
  </property>
  <property fmtid="{D5CDD505-2E9C-101B-9397-08002B2CF9AE}" pid="3" name="KSOProductBuildVer">
    <vt:lpwstr>2052-6.5.2.8766</vt:lpwstr>
  </property>
</Properties>
</file>